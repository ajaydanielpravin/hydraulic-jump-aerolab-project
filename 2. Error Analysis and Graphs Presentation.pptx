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0E03-5B10-41C4-9626-4856B5465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AA03F-AB02-4B6F-82A6-4B27B0572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9251F-823D-455E-8E17-739DC64D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E4941-2473-4C52-A7E1-669C1620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06905-968C-4F9B-8D62-BBAD8C4E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848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18AD-1AAA-438E-98D6-7F0141620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37A31-0719-4823-AD73-E49044800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C557B-415F-40B1-882B-E94DEBDF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690C-1C8D-4A44-B6F8-067A62981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78388-9F78-4C86-84CE-95732E0F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436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A2FE-D032-4C4C-B833-E2A03AE5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D1104-F116-4A56-A999-C8D38C2D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51E08-670D-40E0-9D93-D963A262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524CE-9C92-4893-8EB3-59215363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49284-FD5F-48A7-BBC6-DD566CC85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222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A7FB-981D-4934-B8AF-810A8CDF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A365-AC11-4923-AB43-35C9FA5FE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52BC6-0321-42A1-B218-DE66CC579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EA92E-6371-4864-A72B-F621B9CA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48E75-4025-4642-80A6-AED5287C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762C6-BF85-42F6-9E88-CFFEB9D9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3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B7AC-9500-4C60-A931-5ACA267E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EF5B9-7F11-44DB-8319-D010A2C47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A69EA-79D4-47B9-92A4-AB2CA67E1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4AE73-2C07-4C7A-B5D5-C29ECE90E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3E2CA-B4C4-435F-9A80-5A4E93A81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4C82F-613C-4A51-A542-12D2ACBC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B56ED-2F41-455C-899D-30742819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8B5717-DD24-4DC7-9EA7-02410C7E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47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7ED1C-5731-444D-A9A4-99FD1CD35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668FD5-6E11-4B13-B6F1-A1A57328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F7626-C92F-4253-9C40-60C5B7E5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D55D6-264F-4106-8C0B-62695462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57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CB235-AC13-4CA1-AE2B-1D2A3404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291E5-0B2C-4BB2-AEB8-F94D3FB7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C4974-669F-4FF5-BBAF-451FDF284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977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24E2-BD4C-4212-B9D0-58C6EA7D4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201A-63E5-4E8C-9E31-AA3353A34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62CAA-8278-40F2-8280-5A93E76F5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B618A-F89A-424F-9738-3C48DFA1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DD3C9-DF3B-4FBD-AED0-3B353925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A6D1B-C4B3-4843-A95F-D6F7319F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8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98C5-A2C6-4CEB-9BF4-939BEF071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2AC2C-8479-4A8D-A756-2F8ABAB98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BA031-0620-45E9-A91A-0663C1D95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2F6F-8001-4927-A051-BAACA528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48B97-A204-4D5C-A302-34FE4F0AB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0A0A-3444-4E46-9C04-AFB1A306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15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0508-412C-4408-8A4F-21AB5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57BCF-9E5A-4690-8DFD-8670EB597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3A06C-F680-49FD-AC5B-19081BF9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C453E-730E-4661-8379-F735D802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A44ED-CC2F-480F-A520-6A011A89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41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E05F0-D86F-4425-9409-E6E305CA6F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AAB4B-64AE-4097-87B4-112F52C18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7559B-030A-4E17-800A-B4DE11D9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DE290-B48E-4177-A40A-0341E458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DC167-F19F-49A0-B70C-EA21F0490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327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6874C-2645-4D8A-BAFD-AB86B860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44E0C-A727-403E-BC08-7E333786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01BAD-7136-45B9-9E29-0BA877FE9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DA038-55F8-4639-8215-35241E78C60D}" type="datetimeFigureOut">
              <a:rPr lang="en-IN" smtClean="0"/>
              <a:t>06-12-2021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780F-01C1-4F2F-A5F7-C9E5917D51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D9D73-EF5B-4A29-AF2A-4D7D37C90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EC8E3-ED86-4C36-A2FB-61E2D6958F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21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6578-CC6E-4932-95E4-9C258DC03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494" y="1180552"/>
            <a:ext cx="9144000" cy="2387600"/>
          </a:xfrm>
        </p:spPr>
        <p:txBody>
          <a:bodyPr/>
          <a:lstStyle/>
          <a:p>
            <a:r>
              <a:rPr lang="en-US" b="1" dirty="0"/>
              <a:t>Error Analysis and Graphs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8042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D1EE-D57B-4C5F-AA4D-DF8AFA5A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Important Notes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B81D4-D527-41FA-891D-2F34B8AA4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80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Taken tolerance values</a:t>
            </a:r>
          </a:p>
          <a:p>
            <a:endParaRPr lang="en-US" sz="1800" dirty="0"/>
          </a:p>
          <a:p>
            <a:r>
              <a:rPr lang="el-GR" sz="1800" dirty="0"/>
              <a:t>δ </a:t>
            </a:r>
            <a:r>
              <a:rPr lang="en-IN" sz="1800" dirty="0"/>
              <a:t>y1 = 1 mm = 0.001cm</a:t>
            </a:r>
          </a:p>
          <a:p>
            <a:r>
              <a:rPr lang="el-GR" sz="1800" dirty="0"/>
              <a:t>δ </a:t>
            </a:r>
            <a:r>
              <a:rPr lang="en-IN" sz="1800" dirty="0"/>
              <a:t>y2 = 1 mm = 0.001cm</a:t>
            </a:r>
          </a:p>
          <a:p>
            <a:r>
              <a:rPr lang="el-GR" sz="1800" dirty="0"/>
              <a:t>δ </a:t>
            </a:r>
            <a:r>
              <a:rPr lang="en-IN" sz="1800" dirty="0"/>
              <a:t>t = 0.1 s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For simplicity in formulae, we represent </a:t>
            </a:r>
          </a:p>
          <a:p>
            <a:endParaRPr lang="en-IN" sz="1800" dirty="0"/>
          </a:p>
          <a:p>
            <a:r>
              <a:rPr lang="en-IN" sz="1800" dirty="0"/>
              <a:t>Experimental Conjugate Depth = J</a:t>
            </a:r>
          </a:p>
          <a:p>
            <a:r>
              <a:rPr lang="en-IN" sz="1800" dirty="0"/>
              <a:t>Froude Number = Fr</a:t>
            </a:r>
          </a:p>
          <a:p>
            <a:r>
              <a:rPr lang="en-US" sz="1800" dirty="0"/>
              <a:t>Experimental Specific Energy Loss = E</a:t>
            </a:r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/>
              <a:t>All calculations have been performed on MS Excel and all graphs have been plotted and labelled using MATLAB.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  <a:p>
            <a:endParaRPr lang="en-IN" sz="1800" dirty="0"/>
          </a:p>
        </p:txBody>
      </p:sp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6FFA87C-E7D5-416F-957E-253FA539C7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49394" y="176304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2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85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3C5DC-C966-444B-8AA3-ED3902F9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Error Analysis</a:t>
            </a:r>
            <a:endParaRPr lang="en-IN" sz="28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5B89C-BB70-40A4-9699-16F887A34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763278" y="1902504"/>
            <a:ext cx="4458608" cy="12628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C97D6C-811F-4019-8F44-DA007E0FF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78" y="3692695"/>
            <a:ext cx="4761534" cy="2394649"/>
          </a:xfrm>
          <a:prstGeom prst="rect">
            <a:avLst/>
          </a:prstGeom>
        </p:spPr>
      </p:pic>
      <p:pic>
        <p:nvPicPr>
          <p:cNvPr id="7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E1DF0FB0-6A89-415F-A5F0-6F8FD6BC66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058448" y="17307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26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57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7562D-8C3A-4802-A66B-5FAC951A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Error Analysis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8A622-B886-45D4-AF5C-8C5919B14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4557"/>
            <a:ext cx="5338156" cy="26651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D60FC3-7816-4E04-9E4A-DE619A1A1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63941"/>
            <a:ext cx="4874819" cy="183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01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0E91-C98B-4E14-95FF-83A4CAC29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Error Analysis</a:t>
            </a: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1B866-47D7-4B06-8FF5-53FE96DD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8681"/>
            <a:ext cx="4970196" cy="683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1A46C-E769-49F7-AB97-96060133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27627"/>
            <a:ext cx="6207281" cy="105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F507EF-B6D7-4951-9E8C-8AB5EE939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78204"/>
            <a:ext cx="6035930" cy="216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26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1C49-C36B-49C9-A6B8-33AFCC4A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Error Analysis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A87EB-19C7-4193-A0A2-2E58F0225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After calculating and arranging all the obtained values using excel, we get</a:t>
            </a:r>
          </a:p>
          <a:p>
            <a:r>
              <a:rPr lang="el-GR" sz="1800" dirty="0"/>
              <a:t>δ </a:t>
            </a:r>
            <a:r>
              <a:rPr lang="en-IN" sz="1800" dirty="0"/>
              <a:t>Q = -0.00000256 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Error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B2BB87-E201-442A-90AF-4017A7573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220716"/>
              </p:ext>
            </p:extLst>
          </p:nvPr>
        </p:nvGraphicFramePr>
        <p:xfrm>
          <a:off x="838200" y="3429000"/>
          <a:ext cx="8370917" cy="21779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4485">
                  <a:extLst>
                    <a:ext uri="{9D8B030D-6E8A-4147-A177-3AD203B41FA5}">
                      <a16:colId xmlns:a16="http://schemas.microsoft.com/office/drawing/2014/main" val="1839010389"/>
                    </a:ext>
                  </a:extLst>
                </a:gridCol>
                <a:gridCol w="1813457">
                  <a:extLst>
                    <a:ext uri="{9D8B030D-6E8A-4147-A177-3AD203B41FA5}">
                      <a16:colId xmlns:a16="http://schemas.microsoft.com/office/drawing/2014/main" val="1644658947"/>
                    </a:ext>
                  </a:extLst>
                </a:gridCol>
                <a:gridCol w="3742975">
                  <a:extLst>
                    <a:ext uri="{9D8B030D-6E8A-4147-A177-3AD203B41FA5}">
                      <a16:colId xmlns:a16="http://schemas.microsoft.com/office/drawing/2014/main" val="4046289365"/>
                    </a:ext>
                  </a:extLst>
                </a:gridCol>
              </a:tblGrid>
              <a:tr h="435587">
                <a:tc>
                  <a:txBody>
                    <a:bodyPr/>
                    <a:lstStyle/>
                    <a:p>
                      <a:pPr algn="ctr" fontAlgn="b"/>
                      <a:r>
                        <a:rPr lang="el-GR" sz="1800" u="none" strike="noStrike" dirty="0">
                          <a:effectLst/>
                        </a:rPr>
                        <a:t>δ </a:t>
                      </a:r>
                      <a:r>
                        <a:rPr lang="en-IN" sz="1800" u="none" strike="noStrike" dirty="0">
                          <a:effectLst/>
                        </a:rPr>
                        <a:t>Fr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800" u="none" strike="noStrike" dirty="0">
                          <a:effectLst/>
                        </a:rPr>
                        <a:t>δ </a:t>
                      </a:r>
                      <a:r>
                        <a:rPr lang="en-IN" sz="1800" u="none" strike="noStrike" dirty="0">
                          <a:effectLst/>
                        </a:rPr>
                        <a:t>J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l-GR" sz="1800" u="none" strike="noStrike" dirty="0">
                          <a:effectLst/>
                        </a:rPr>
                        <a:t>δ </a:t>
                      </a:r>
                      <a:r>
                        <a:rPr lang="en-IN" sz="1800" u="none" strike="noStrike" dirty="0">
                          <a:effectLst/>
                        </a:rPr>
                        <a:t>E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97888763"/>
                  </a:ext>
                </a:extLst>
              </a:tr>
              <a:tr h="43558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2.52863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1.21655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0.00863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55463270"/>
                  </a:ext>
                </a:extLst>
              </a:tr>
              <a:tr h="43558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1.48208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0.41321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0.00174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6156908"/>
                  </a:ext>
                </a:extLst>
              </a:tr>
              <a:tr h="43558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1.02669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0.20591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0.00041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9279010"/>
                  </a:ext>
                </a:extLst>
              </a:tr>
              <a:tr h="43558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0.77777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0.12012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0.00001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8544944"/>
                  </a:ext>
                </a:extLst>
              </a:tr>
            </a:tbl>
          </a:graphicData>
        </a:graphic>
      </p:graphicFrame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0B6FD3A6-5AA7-4E6B-B35C-F84D5CEB25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50136" y="78441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6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2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9B72-BB4E-4E29-8881-F717C01BE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Graphs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7C293-C9C3-46FB-8624-9EABA172B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051"/>
            <a:ext cx="8367680" cy="4831592"/>
          </a:xfr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27A0D047-5AFA-4D0F-8CE2-0FE5CA86D3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93925" y="78422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80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1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537D-5242-4375-9EA1-DF5B09329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Graphs</a:t>
            </a:r>
            <a:endParaRPr lang="en-IN" sz="28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532B5-77D7-40C3-8ECA-ABAA21B6A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21477"/>
            <a:ext cx="8282303" cy="4779818"/>
          </a:xfrm>
        </p:spPr>
      </p:pic>
      <p:pic>
        <p:nvPicPr>
          <p:cNvPr id="6" name="Recorded Sound">
            <a:hlinkClick r:id="" action="ppaction://media"/>
            <a:extLst>
              <a:ext uri="{FF2B5EF4-FFF2-40B4-BE49-F238E27FC236}">
                <a16:creationId xmlns:a16="http://schemas.microsoft.com/office/drawing/2014/main" id="{7AED5F97-889B-4FD9-BF88-56C2AAD9BA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202238" y="78422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6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37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117</Words>
  <Application>Microsoft Office PowerPoint</Application>
  <PresentationFormat>Widescreen</PresentationFormat>
  <Paragraphs>43</Paragraphs>
  <Slides>8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Error Analysis and Graphs</vt:lpstr>
      <vt:lpstr>Important Notes</vt:lpstr>
      <vt:lpstr>Error Analysis</vt:lpstr>
      <vt:lpstr>Error Analysis</vt:lpstr>
      <vt:lpstr>Error Analysis</vt:lpstr>
      <vt:lpstr>Error Analysis</vt:lpstr>
      <vt:lpstr>Graphs</vt:lpstr>
      <vt:lpstr>Graphs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Analysis and Graphs</dc:title>
  <dc:creator>Ajay Daniel Pravin</dc:creator>
  <cp:lastModifiedBy>Ajay Daniel Pravin</cp:lastModifiedBy>
  <cp:revision>5</cp:revision>
  <dcterms:created xsi:type="dcterms:W3CDTF">2021-12-06T11:23:54Z</dcterms:created>
  <dcterms:modified xsi:type="dcterms:W3CDTF">2021-12-06T11:56:37Z</dcterms:modified>
</cp:coreProperties>
</file>